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elegraf Bold" charset="1" panose="00000800000000000000"/>
      <p:regular r:id="rId22"/>
    </p:embeddedFont>
    <p:embeddedFont>
      <p:font typeface="Telegraf" charset="1" panose="00000500000000000000"/>
      <p:regular r:id="rId23"/>
    </p:embeddedFont>
    <p:embeddedFont>
      <p:font typeface="Coco Gothic Italics" charset="1" panose="00000000000000000000"/>
      <p:regular r:id="rId24"/>
    </p:embeddedFont>
    <p:embeddedFont>
      <p:font typeface="Open Sans Bold" charset="1" panose="020B0806030504020204"/>
      <p:regular r:id="rId25"/>
    </p:embeddedFont>
    <p:embeddedFont>
      <p:font typeface="Coco Gothic" charset="1" panose="00000000000000000000"/>
      <p:regular r:id="rId26"/>
    </p:embeddedFont>
    <p:embeddedFont>
      <p:font typeface="Open Sauce Light" charset="1" panose="00000400000000000000"/>
      <p:regular r:id="rId27"/>
    </p:embeddedFont>
    <p:embeddedFont>
      <p:font typeface="Open Sans" charset="1" panose="020B0606030504020204"/>
      <p:regular r:id="rId28"/>
    </p:embeddedFont>
    <p:embeddedFont>
      <p:font typeface="Coco Gothic Bold" charset="1" panose="00000000000000000000"/>
      <p:regular r:id="rId29"/>
    </p:embeddedFont>
    <p:embeddedFont>
      <p:font typeface="Coco Gothic Bold Italics" charset="1" panose="00000000000000000000"/>
      <p:regular r:id="rId30"/>
    </p:embeddedFont>
    <p:embeddedFont>
      <p:font typeface="Open Sans Italics" charset="1" panose="020B0606030504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5161" y="0"/>
            <a:ext cx="3012839" cy="10287000"/>
            <a:chOff x="0" y="0"/>
            <a:chExt cx="79350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35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793505">
                  <a:moveTo>
                    <a:pt x="0" y="0"/>
                  </a:moveTo>
                  <a:lnTo>
                    <a:pt x="793505" y="0"/>
                  </a:lnTo>
                  <a:lnTo>
                    <a:pt x="7935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93505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31661" y="0"/>
            <a:ext cx="10287000" cy="102870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4906" t="0" r="-2490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1086939" cy="1401872"/>
          </a:xfrm>
          <a:custGeom>
            <a:avLst/>
            <a:gdLst/>
            <a:ahLst/>
            <a:cxnLst/>
            <a:rect r="r" b="b" t="t" l="l"/>
            <a:pathLst>
              <a:path h="1401872" w="1086939">
                <a:moveTo>
                  <a:pt x="0" y="0"/>
                </a:moveTo>
                <a:lnTo>
                  <a:pt x="1086939" y="0"/>
                </a:lnTo>
                <a:lnTo>
                  <a:pt x="1086939" y="1401872"/>
                </a:lnTo>
                <a:lnTo>
                  <a:pt x="0" y="140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4906" y="1847760"/>
            <a:ext cx="7912139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PROYECTO IoT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3469" y="3720478"/>
            <a:ext cx="9027951" cy="169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9"/>
              </a:lnSpc>
            </a:pPr>
            <a:r>
              <a:rPr lang="en-US" b="true" sz="12999" spc="-77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OXÍMETRO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845" y="6837692"/>
            <a:ext cx="744076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99"/>
              </a:lnSpc>
            </a:pPr>
            <a:r>
              <a:rPr lang="en-US" sz="2499" spc="-74">
                <a:solidFill>
                  <a:srgbClr val="112F59"/>
                </a:solidFill>
                <a:latin typeface="Telegraf"/>
                <a:ea typeface="Telegraf"/>
                <a:cs typeface="Telegraf"/>
                <a:sym typeface="Telegraf"/>
              </a:rPr>
              <a:t>DOCENTE: DR. JOSÉ MANUEL MUÑÓZ CONTRERAS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240" y="5996317"/>
            <a:ext cx="8348409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ASIGNATURA: ORGANIZACIÓN DE COMPUTADORAS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7845" y="543774"/>
            <a:ext cx="859543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160"/>
              </a:lnSpc>
            </a:pPr>
            <a:r>
              <a:rPr lang="en-US" sz="1800" spc="-53">
                <a:solidFill>
                  <a:srgbClr val="112F59"/>
                </a:solidFill>
                <a:latin typeface="Telegraf"/>
                <a:ea typeface="Telegraf"/>
                <a:cs typeface="Telegraf"/>
                <a:sym typeface="Telegraf"/>
              </a:rPr>
              <a:t>UNIVERSIDAD AUTÓNOMA DE BAJA CALIFORNIA CAMPUS VALLE LAS PALMAS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4596" y="7752092"/>
            <a:ext cx="567275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99"/>
              </a:lnSpc>
            </a:pPr>
            <a:r>
              <a:rPr lang="en-US" sz="2499" spc="-74">
                <a:solidFill>
                  <a:srgbClr val="112F59"/>
                </a:solidFill>
                <a:latin typeface="Telegraf"/>
                <a:ea typeface="Telegraf"/>
                <a:cs typeface="Telegraf"/>
                <a:sym typeface="Telegraf"/>
              </a:rPr>
              <a:t>ALUMNO: ARATH REYES GONZALEZ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24596" y="8666492"/>
            <a:ext cx="567275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99"/>
              </a:lnSpc>
            </a:pPr>
            <a:r>
              <a:rPr lang="en-US" sz="2499" spc="-74">
                <a:solidFill>
                  <a:srgbClr val="112F59"/>
                </a:solidFill>
                <a:latin typeface="Telegraf"/>
                <a:ea typeface="Telegraf"/>
                <a:cs typeface="Telegraf"/>
                <a:sym typeface="Telegraf"/>
              </a:rP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05689" y="2932567"/>
            <a:ext cx="11276621" cy="5948042"/>
            <a:chOff x="0" y="0"/>
            <a:chExt cx="2969974" cy="1566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9974" cy="1566562"/>
            </a:xfrm>
            <a:custGeom>
              <a:avLst/>
              <a:gdLst/>
              <a:ahLst/>
              <a:cxnLst/>
              <a:rect r="r" b="b" t="t" l="l"/>
              <a:pathLst>
                <a:path h="1566562" w="2969974">
                  <a:moveTo>
                    <a:pt x="0" y="0"/>
                  </a:moveTo>
                  <a:lnTo>
                    <a:pt x="2969974" y="0"/>
                  </a:lnTo>
                  <a:lnTo>
                    <a:pt x="2969974" y="1566562"/>
                  </a:lnTo>
                  <a:lnTo>
                    <a:pt x="0" y="15665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69974" cy="1614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00012" y="3109217"/>
            <a:ext cx="10887977" cy="5594742"/>
            <a:chOff x="0" y="0"/>
            <a:chExt cx="2867615" cy="14735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67615" cy="1473512"/>
            </a:xfrm>
            <a:custGeom>
              <a:avLst/>
              <a:gdLst/>
              <a:ahLst/>
              <a:cxnLst/>
              <a:rect r="r" b="b" t="t" l="l"/>
              <a:pathLst>
                <a:path h="1473512" w="2867615">
                  <a:moveTo>
                    <a:pt x="0" y="0"/>
                  </a:moveTo>
                  <a:lnTo>
                    <a:pt x="2867615" y="0"/>
                  </a:lnTo>
                  <a:lnTo>
                    <a:pt x="2867615" y="1473512"/>
                  </a:lnTo>
                  <a:lnTo>
                    <a:pt x="0" y="1473512"/>
                  </a:lnTo>
                  <a:close/>
                </a:path>
              </a:pathLst>
            </a:custGeom>
            <a:solidFill>
              <a:srgbClr val="FFF9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67615" cy="1521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87931" y="1200150"/>
            <a:ext cx="7912139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ÍNDICE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91285" y="3620588"/>
            <a:ext cx="8508784" cy="5029200"/>
            <a:chOff x="0" y="0"/>
            <a:chExt cx="11345046" cy="6705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492920" y="-47625"/>
              <a:ext cx="10852126" cy="675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OBJETIVO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OBJETIVO ESPECIFICO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INTRODUCCIÓN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ESTADODE ARTE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COMPONENTES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DESCRIPCIÓN DEL MECANISMO OPERATIVO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ENSAMBLAJE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DIAGRAMA DE CIRCUITOS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CÓDIGO</a:t>
              </a:r>
            </a:p>
            <a:p>
              <a:pPr algn="l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CONCLUSIÓN</a:t>
              </a:r>
            </a:p>
            <a:p>
              <a:pPr algn="l" marL="0" indent="0" lvl="1">
                <a:lnSpc>
                  <a:spcPts val="3600"/>
                </a:lnSpc>
              </a:pPr>
              <a:r>
                <a:rPr lang="en-US" sz="3000" spc="-89">
                  <a:solidFill>
                    <a:srgbClr val="112F59"/>
                  </a:solidFill>
                  <a:latin typeface="Telegraf"/>
                  <a:ea typeface="Telegraf"/>
                  <a:cs typeface="Telegraf"/>
                  <a:sym typeface="Telegraf"/>
                </a:rPr>
                <a:t>BIBLIOGRÁFICAS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-5400000">
              <a:off x="-18115" y="188543"/>
              <a:ext cx="289841" cy="253611"/>
              <a:chOff x="0" y="0"/>
              <a:chExt cx="812800" cy="71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-18115" y="808583"/>
              <a:ext cx="289841" cy="253611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5400000">
              <a:off x="-18115" y="1428624"/>
              <a:ext cx="289841" cy="253611"/>
              <a:chOff x="0" y="0"/>
              <a:chExt cx="812800" cy="71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5400000">
              <a:off x="-18115" y="2048665"/>
              <a:ext cx="289841" cy="253611"/>
              <a:chOff x="0" y="0"/>
              <a:chExt cx="812800" cy="711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-18115" y="2590083"/>
              <a:ext cx="289841" cy="253611"/>
              <a:chOff x="0" y="0"/>
              <a:chExt cx="812800" cy="711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-5400000">
              <a:off x="-18115" y="3210123"/>
              <a:ext cx="289841" cy="253611"/>
              <a:chOff x="0" y="0"/>
              <a:chExt cx="812800" cy="711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5400000">
              <a:off x="-18115" y="3830164"/>
              <a:ext cx="289841" cy="253611"/>
              <a:chOff x="0" y="0"/>
              <a:chExt cx="812800" cy="71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-5400000">
              <a:off x="-18115" y="4456422"/>
              <a:ext cx="289841" cy="253611"/>
              <a:chOff x="0" y="0"/>
              <a:chExt cx="812800" cy="7112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-5400000">
              <a:off x="-18115" y="4952582"/>
              <a:ext cx="289841" cy="253611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5400000">
              <a:off x="-18115" y="5572622"/>
              <a:ext cx="289841" cy="25361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5400000">
              <a:off x="-18115" y="6192663"/>
              <a:ext cx="289841" cy="25361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12F59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36259" y="2896362"/>
            <a:ext cx="6628022" cy="5596879"/>
          </a:xfrm>
          <a:custGeom>
            <a:avLst/>
            <a:gdLst/>
            <a:ahLst/>
            <a:cxnLst/>
            <a:rect r="r" b="b" t="t" l="l"/>
            <a:pathLst>
              <a:path h="5596879" w="6628022">
                <a:moveTo>
                  <a:pt x="0" y="0"/>
                </a:moveTo>
                <a:lnTo>
                  <a:pt x="6628021" y="0"/>
                </a:lnTo>
                <a:lnTo>
                  <a:pt x="6628021" y="5596879"/>
                </a:lnTo>
                <a:lnTo>
                  <a:pt x="0" y="5596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743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2090"/>
            <a:ext cx="7441048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332198"/>
            <a:ext cx="8115300" cy="16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199"/>
              </a:lnSpc>
            </a:pPr>
            <a:r>
              <a:rPr lang="en-US" sz="2665" i="true">
                <a:solidFill>
                  <a:srgbClr val="112F59"/>
                </a:solidFill>
                <a:latin typeface="Coco Gothic Italics"/>
                <a:ea typeface="Coco Gothic Italics"/>
                <a:cs typeface="Coco Gothic Italics"/>
                <a:sym typeface="Coco Gothic Italics"/>
              </a:rPr>
              <a:t>Diseñar, implementar y validar un sistema embebido portátil de monitoreo cardiaco y saturación de oxígeno. Mediante la creación de un proyecto IoT. [5]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910069" y="9788525"/>
            <a:ext cx="14510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902342" y="1830135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36" t="0" r="-2823" b="-1235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62090"/>
            <a:ext cx="7441048" cy="190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OBJETIVO ESPECIFICO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497057"/>
            <a:ext cx="9388788" cy="47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9"/>
              </a:lnSpc>
            </a:pPr>
            <a:r>
              <a:rPr lang="en-US" sz="2665" i="true">
                <a:solidFill>
                  <a:srgbClr val="112F59"/>
                </a:solidFill>
                <a:latin typeface="Coco Gothic Italics"/>
                <a:ea typeface="Coco Gothic Italics"/>
                <a:cs typeface="Coco Gothic Italics"/>
                <a:sym typeface="Coco Gothic Italics"/>
              </a:rPr>
              <a:t>Para la realización de este proyecto es necesario tener conocimientos básicos sobre soldar, microcontroladores y conexiones.</a:t>
            </a:r>
          </a:p>
          <a:p>
            <a:pPr algn="just">
              <a:lnSpc>
                <a:spcPts val="3199"/>
              </a:lnSpc>
            </a:pPr>
          </a:p>
          <a:p>
            <a:pPr algn="just">
              <a:lnSpc>
                <a:spcPts val="3199"/>
              </a:lnSpc>
            </a:pPr>
            <a:r>
              <a:rPr lang="en-US" sz="2665" i="true">
                <a:solidFill>
                  <a:srgbClr val="112F59"/>
                </a:solidFill>
                <a:latin typeface="Coco Gothic Italics"/>
                <a:ea typeface="Coco Gothic Italics"/>
                <a:cs typeface="Coco Gothic Italics"/>
                <a:sym typeface="Coco Gothic Italics"/>
              </a:rPr>
              <a:t>El proyecto consistio en realizar una adaptación en versión portátil, sin embargo el dispositivo podría funcionar de una manera donde no sea necesaria una batería externa.</a:t>
            </a:r>
          </a:p>
          <a:p>
            <a:pPr algn="just">
              <a:lnSpc>
                <a:spcPts val="3199"/>
              </a:lnSpc>
            </a:pPr>
          </a:p>
          <a:p>
            <a:pPr algn="just">
              <a:lnSpc>
                <a:spcPts val="3199"/>
              </a:lnSpc>
            </a:pPr>
            <a:r>
              <a:rPr lang="en-US" sz="2665" i="true">
                <a:solidFill>
                  <a:srgbClr val="112F59"/>
                </a:solidFill>
                <a:latin typeface="Coco Gothic Italics"/>
                <a:ea typeface="Coco Gothic Italics"/>
                <a:cs typeface="Coco Gothic Italics"/>
                <a:sym typeface="Coco Gothic Italics"/>
              </a:rPr>
              <a:t>Para encontrar materiales se recomienda utilizar plataformas que contenga venta de electrónicos (mercado libre, steren).</a:t>
            </a:r>
          </a:p>
          <a:p>
            <a:pPr algn="just" marL="0" indent="0" lvl="1">
              <a:lnSpc>
                <a:spcPts val="31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846058" y="9788525"/>
            <a:ext cx="14510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41630" y="0"/>
            <a:ext cx="5246370" cy="10287000"/>
            <a:chOff x="0" y="0"/>
            <a:chExt cx="81280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593725"/>
            </a:xfrm>
            <a:custGeom>
              <a:avLst/>
              <a:gdLst/>
              <a:ahLst/>
              <a:cxnLst/>
              <a:rect r="r" b="b" t="t" l="l"/>
              <a:pathLst>
                <a:path h="159372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5318" t="0" r="-1531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43345" y="1200150"/>
            <a:ext cx="8794432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64800"/>
            <a:ext cx="10581849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El oxímetro de pulso es un dispositivo que mide e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l nivel de oxígeno en la sangre de forma no invasiva. Funciona mediante haces de luz que atraviesan el dedo, permitiendo estimar el porcentaje de oxígeno presente en los glóbulos rojos. [1]</a:t>
            </a:r>
          </a:p>
          <a:p>
            <a:pPr algn="just" marL="0" indent="0" lvl="1">
              <a:lnSpc>
                <a:spcPts val="29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66356" y="5582697"/>
            <a:ext cx="8348409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999" spc="-8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¿QUÉ ES UN OXÍMETRO?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83256"/>
            <a:ext cx="10581849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Tradicionalmente, el monitoreo de signos vitales se limitaba al entorno 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clínico por el uso de equipos costosos y personal especializado. Actualmente, el avance tecnológico ha permitido desarrollar dispositivos médicos accesibles basados en IoT. [5]</a:t>
            </a:r>
          </a:p>
          <a:p>
            <a:pPr algn="just" marL="0" indent="0" lvl="1">
              <a:lnSpc>
                <a:spcPts val="299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863933" y="9788525"/>
            <a:ext cx="14510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41630" y="619125"/>
            <a:ext cx="5246370" cy="9048750"/>
            <a:chOff x="0" y="0"/>
            <a:chExt cx="812800" cy="14018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401888"/>
            </a:xfrm>
            <a:custGeom>
              <a:avLst/>
              <a:gdLst/>
              <a:ahLst/>
              <a:cxnLst/>
              <a:rect r="r" b="b" t="t" l="l"/>
              <a:pathLst>
                <a:path h="140188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01888"/>
                  </a:lnTo>
                  <a:lnTo>
                    <a:pt x="0" y="1401888"/>
                  </a:lnTo>
                  <a:close/>
                </a:path>
              </a:pathLst>
            </a:custGeom>
            <a:blipFill>
              <a:blip r:embed="rId2"/>
              <a:stretch>
                <a:fillRect l="-36712" t="0" r="-3576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3345" y="1200150"/>
            <a:ext cx="8794432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ESTADO DE ARTE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824288"/>
            <a:ext cx="10581849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Mientras que un dispositivo común o medico, podría tener un precio al rededor de 300-500 pesos, la realización de un en el hogar puede costar al rededor de 60-100 pesos.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Con la justificación de hacer uso de soldaduras, conexiones y mejorar conocimientos de electrónica.</a:t>
            </a:r>
          </a:p>
          <a:p>
            <a:pPr algn="just" marL="0" indent="0" lvl="1">
              <a:lnSpc>
                <a:spcPts val="29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86683" y="5928503"/>
            <a:ext cx="3902186" cy="3631422"/>
          </a:xfrm>
          <a:custGeom>
            <a:avLst/>
            <a:gdLst/>
            <a:ahLst/>
            <a:cxnLst/>
            <a:rect r="r" b="b" t="t" l="l"/>
            <a:pathLst>
              <a:path h="3631422" w="3902186">
                <a:moveTo>
                  <a:pt x="0" y="0"/>
                </a:moveTo>
                <a:lnTo>
                  <a:pt x="3902186" y="0"/>
                </a:lnTo>
                <a:lnTo>
                  <a:pt x="3902186" y="3631422"/>
                </a:lnTo>
                <a:lnTo>
                  <a:pt x="0" y="3631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64397" y="9229725"/>
            <a:ext cx="2244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12F59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[7]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93505" y="9788525"/>
            <a:ext cx="14510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1961" y="5766702"/>
            <a:ext cx="12644078" cy="3793223"/>
          </a:xfrm>
          <a:custGeom>
            <a:avLst/>
            <a:gdLst/>
            <a:ahLst/>
            <a:cxnLst/>
            <a:rect r="r" b="b" t="t" l="l"/>
            <a:pathLst>
              <a:path h="3793223" w="12644078">
                <a:moveTo>
                  <a:pt x="0" y="0"/>
                </a:moveTo>
                <a:lnTo>
                  <a:pt x="12644078" y="0"/>
                </a:lnTo>
                <a:lnTo>
                  <a:pt x="12644078" y="3793223"/>
                </a:lnTo>
                <a:lnTo>
                  <a:pt x="0" y="3793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36833" y="1104900"/>
            <a:ext cx="10014335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b="true" sz="3999" spc="-11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FUNCIONAMIENTO DEL DISPOSITIVO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53076" y="2193423"/>
            <a:ext cx="10581849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El oxímetro de pulso utiliza 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fotopletismografía. </a:t>
            </a: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Emite luz roja e infrarroja a través del tejido, analiza su absorción por la hemoglobina oxigenada y desoxigenada, y calcula la saturación de oxígeno (SpO₂) y la frecuencia del pulso. [1]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Emisión 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Absorción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Deteccion</a:t>
            </a:r>
          </a:p>
          <a:p>
            <a:pPr algn="just" marL="0" indent="0" lvl="1">
              <a:lnSpc>
                <a:spcPts val="299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88382" y="9639300"/>
            <a:ext cx="17111236" cy="48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FFF9EE"/>
                </a:solidFill>
                <a:latin typeface="Open Sans"/>
                <a:ea typeface="Open Sans"/>
                <a:cs typeface="Open Sans"/>
                <a:sym typeface="Open Sans"/>
              </a:rPr>
              <a:t>Imagen de referencia visual de como funciona un oximetro tradicional</a:t>
            </a:r>
          </a:p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FFF9EE"/>
                </a:solidFill>
                <a:latin typeface="Open Sans"/>
                <a:ea typeface="Open Sans"/>
                <a:cs typeface="Open Sans"/>
                <a:sym typeface="Open Sans"/>
              </a:rPr>
              <a:t>(1) “Oxímetro de pulso: MedlinePlus enciclopedia médica illustración.” https://medlineplus.gov/spanish/ency/esp_imagepages/20005.htm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940624" y="9788525"/>
            <a:ext cx="14510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0969" y="2240916"/>
            <a:ext cx="3159201" cy="3159201"/>
          </a:xfrm>
          <a:custGeom>
            <a:avLst/>
            <a:gdLst/>
            <a:ahLst/>
            <a:cxnLst/>
            <a:rect r="r" b="b" t="t" l="l"/>
            <a:pathLst>
              <a:path h="3159201" w="3159201">
                <a:moveTo>
                  <a:pt x="0" y="0"/>
                </a:moveTo>
                <a:lnTo>
                  <a:pt x="3159201" y="0"/>
                </a:lnTo>
                <a:lnTo>
                  <a:pt x="3159201" y="3159201"/>
                </a:lnTo>
                <a:lnTo>
                  <a:pt x="0" y="31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26337" y="2240916"/>
            <a:ext cx="3159201" cy="3159201"/>
          </a:xfrm>
          <a:custGeom>
            <a:avLst/>
            <a:gdLst/>
            <a:ahLst/>
            <a:cxnLst/>
            <a:rect r="r" b="b" t="t" l="l"/>
            <a:pathLst>
              <a:path h="3159201" w="3159201">
                <a:moveTo>
                  <a:pt x="0" y="0"/>
                </a:moveTo>
                <a:lnTo>
                  <a:pt x="3159201" y="0"/>
                </a:lnTo>
                <a:lnTo>
                  <a:pt x="3159201" y="3159201"/>
                </a:lnTo>
                <a:lnTo>
                  <a:pt x="0" y="31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11770" y="2306354"/>
            <a:ext cx="3388335" cy="3028324"/>
          </a:xfrm>
          <a:custGeom>
            <a:avLst/>
            <a:gdLst/>
            <a:ahLst/>
            <a:cxnLst/>
            <a:rect r="r" b="b" t="t" l="l"/>
            <a:pathLst>
              <a:path h="3028324" w="3388335">
                <a:moveTo>
                  <a:pt x="0" y="0"/>
                </a:moveTo>
                <a:lnTo>
                  <a:pt x="3388335" y="0"/>
                </a:lnTo>
                <a:lnTo>
                  <a:pt x="3388335" y="3028325"/>
                </a:lnTo>
                <a:lnTo>
                  <a:pt x="0" y="3028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50446" y="2211214"/>
            <a:ext cx="3159201" cy="3159201"/>
          </a:xfrm>
          <a:custGeom>
            <a:avLst/>
            <a:gdLst/>
            <a:ahLst/>
            <a:cxnLst/>
            <a:rect r="r" b="b" t="t" l="l"/>
            <a:pathLst>
              <a:path h="3159201" w="3159201">
                <a:moveTo>
                  <a:pt x="0" y="0"/>
                </a:moveTo>
                <a:lnTo>
                  <a:pt x="3159201" y="0"/>
                </a:lnTo>
                <a:lnTo>
                  <a:pt x="3159201" y="3159201"/>
                </a:lnTo>
                <a:lnTo>
                  <a:pt x="0" y="31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45355" y="2211214"/>
            <a:ext cx="3159201" cy="3159201"/>
          </a:xfrm>
          <a:custGeom>
            <a:avLst/>
            <a:gdLst/>
            <a:ahLst/>
            <a:cxnLst/>
            <a:rect r="r" b="b" t="t" l="l"/>
            <a:pathLst>
              <a:path h="3159201" w="3159201">
                <a:moveTo>
                  <a:pt x="0" y="0"/>
                </a:moveTo>
                <a:lnTo>
                  <a:pt x="3159201" y="0"/>
                </a:lnTo>
                <a:lnTo>
                  <a:pt x="3159201" y="3159201"/>
                </a:lnTo>
                <a:lnTo>
                  <a:pt x="0" y="31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2305" y="2124530"/>
            <a:ext cx="3436530" cy="3391972"/>
          </a:xfrm>
          <a:custGeom>
            <a:avLst/>
            <a:gdLst/>
            <a:ahLst/>
            <a:cxnLst/>
            <a:rect r="r" b="b" t="t" l="l"/>
            <a:pathLst>
              <a:path h="3391972" w="3436530">
                <a:moveTo>
                  <a:pt x="0" y="0"/>
                </a:moveTo>
                <a:lnTo>
                  <a:pt x="3436530" y="0"/>
                </a:lnTo>
                <a:lnTo>
                  <a:pt x="3436530" y="3391973"/>
                </a:lnTo>
                <a:lnTo>
                  <a:pt x="0" y="33919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19451" y="2157472"/>
            <a:ext cx="4236482" cy="3266685"/>
          </a:xfrm>
          <a:custGeom>
            <a:avLst/>
            <a:gdLst/>
            <a:ahLst/>
            <a:cxnLst/>
            <a:rect r="r" b="b" t="t" l="l"/>
            <a:pathLst>
              <a:path h="3266685" w="4236482">
                <a:moveTo>
                  <a:pt x="0" y="0"/>
                </a:moveTo>
                <a:lnTo>
                  <a:pt x="4236482" y="0"/>
                </a:lnTo>
                <a:lnTo>
                  <a:pt x="4236482" y="3266685"/>
                </a:lnTo>
                <a:lnTo>
                  <a:pt x="0" y="3266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562" t="-13146" r="-21256" b="-1712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64400" y="5968177"/>
            <a:ext cx="3159201" cy="3159201"/>
          </a:xfrm>
          <a:custGeom>
            <a:avLst/>
            <a:gdLst/>
            <a:ahLst/>
            <a:cxnLst/>
            <a:rect r="r" b="b" t="t" l="l"/>
            <a:pathLst>
              <a:path h="3159201" w="3159201">
                <a:moveTo>
                  <a:pt x="0" y="0"/>
                </a:moveTo>
                <a:lnTo>
                  <a:pt x="3159200" y="0"/>
                </a:lnTo>
                <a:lnTo>
                  <a:pt x="3159200" y="3159201"/>
                </a:lnTo>
                <a:lnTo>
                  <a:pt x="0" y="31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95225" y="6026370"/>
            <a:ext cx="3159201" cy="3159201"/>
          </a:xfrm>
          <a:custGeom>
            <a:avLst/>
            <a:gdLst/>
            <a:ahLst/>
            <a:cxnLst/>
            <a:rect r="r" b="b" t="t" l="l"/>
            <a:pathLst>
              <a:path h="3159201" w="3159201">
                <a:moveTo>
                  <a:pt x="0" y="0"/>
                </a:moveTo>
                <a:lnTo>
                  <a:pt x="3159201" y="0"/>
                </a:lnTo>
                <a:lnTo>
                  <a:pt x="3159201" y="3159201"/>
                </a:lnTo>
                <a:lnTo>
                  <a:pt x="0" y="31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33574" y="6026370"/>
            <a:ext cx="3159201" cy="3159201"/>
          </a:xfrm>
          <a:custGeom>
            <a:avLst/>
            <a:gdLst/>
            <a:ahLst/>
            <a:cxnLst/>
            <a:rect r="r" b="b" t="t" l="l"/>
            <a:pathLst>
              <a:path h="3159201" w="3159201">
                <a:moveTo>
                  <a:pt x="0" y="0"/>
                </a:moveTo>
                <a:lnTo>
                  <a:pt x="3159201" y="0"/>
                </a:lnTo>
                <a:lnTo>
                  <a:pt x="3159201" y="3159201"/>
                </a:lnTo>
                <a:lnTo>
                  <a:pt x="0" y="3159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29786" y="5717063"/>
            <a:ext cx="3596338" cy="3596338"/>
          </a:xfrm>
          <a:custGeom>
            <a:avLst/>
            <a:gdLst/>
            <a:ahLst/>
            <a:cxnLst/>
            <a:rect r="r" b="b" t="t" l="l"/>
            <a:pathLst>
              <a:path h="3596338" w="3596338">
                <a:moveTo>
                  <a:pt x="0" y="0"/>
                </a:moveTo>
                <a:lnTo>
                  <a:pt x="3596339" y="0"/>
                </a:lnTo>
                <a:lnTo>
                  <a:pt x="3596339" y="3596338"/>
                </a:lnTo>
                <a:lnTo>
                  <a:pt x="0" y="3596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655981" y="6305170"/>
            <a:ext cx="2973258" cy="2601601"/>
          </a:xfrm>
          <a:custGeom>
            <a:avLst/>
            <a:gdLst/>
            <a:ahLst/>
            <a:cxnLst/>
            <a:rect r="r" b="b" t="t" l="l"/>
            <a:pathLst>
              <a:path h="2601601" w="2973258">
                <a:moveTo>
                  <a:pt x="0" y="0"/>
                </a:moveTo>
                <a:lnTo>
                  <a:pt x="2973259" y="0"/>
                </a:lnTo>
                <a:lnTo>
                  <a:pt x="2973259" y="2601601"/>
                </a:lnTo>
                <a:lnTo>
                  <a:pt x="0" y="2601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38687" y="6452341"/>
            <a:ext cx="3141271" cy="2348879"/>
          </a:xfrm>
          <a:custGeom>
            <a:avLst/>
            <a:gdLst/>
            <a:ahLst/>
            <a:cxnLst/>
            <a:rect r="r" b="b" t="t" l="l"/>
            <a:pathLst>
              <a:path h="2348879" w="3141271">
                <a:moveTo>
                  <a:pt x="0" y="0"/>
                </a:moveTo>
                <a:lnTo>
                  <a:pt x="3141272" y="0"/>
                </a:lnTo>
                <a:lnTo>
                  <a:pt x="3141272" y="2348879"/>
                </a:lnTo>
                <a:lnTo>
                  <a:pt x="0" y="23488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290" t="-43480" r="-19184" b="-41708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9695438"/>
            <a:ext cx="18288000" cy="619125"/>
            <a:chOff x="0" y="0"/>
            <a:chExt cx="4816593" cy="1630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579463" y="2433778"/>
            <a:ext cx="3042263" cy="2738997"/>
          </a:xfrm>
          <a:custGeom>
            <a:avLst/>
            <a:gdLst/>
            <a:ahLst/>
            <a:cxnLst/>
            <a:rect r="r" b="b" t="t" l="l"/>
            <a:pathLst>
              <a:path h="2738997" w="3042263">
                <a:moveTo>
                  <a:pt x="0" y="0"/>
                </a:moveTo>
                <a:lnTo>
                  <a:pt x="3042263" y="0"/>
                </a:lnTo>
                <a:lnTo>
                  <a:pt x="3042263" y="2738997"/>
                </a:lnTo>
                <a:lnTo>
                  <a:pt x="0" y="2738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22" t="-15317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15987" y="1200150"/>
            <a:ext cx="8056026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COMPONENTES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3696" y="5573653"/>
            <a:ext cx="333374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Batería LiPo3.7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39064" y="5586888"/>
            <a:ext cx="333374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Tp4056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63173" y="5539121"/>
            <a:ext cx="333374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Switch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54221" y="5539121"/>
            <a:ext cx="333374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Mt3608 boost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46300" y="9278938"/>
            <a:ext cx="333374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Esp32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89852" y="9298828"/>
            <a:ext cx="333374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Oled SSD1306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07952" y="9299871"/>
            <a:ext cx="333374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b="true" sz="2499" spc="-74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Max30102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82522" y="2071371"/>
            <a:ext cx="8348409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999" spc="-8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HARDWARE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894160" y="9816087"/>
            <a:ext cx="14510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07786" y="1638467"/>
            <a:ext cx="7472427" cy="90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b="true" sz="6910" spc="-414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COMPONENTES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7786" y="762000"/>
            <a:ext cx="7472427" cy="90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sz="6910" spc="-414">
                <a:solidFill>
                  <a:srgbClr val="112F59"/>
                </a:solidFill>
                <a:latin typeface="Telegraf"/>
                <a:ea typeface="Telegraf"/>
                <a:cs typeface="Telegraf"/>
                <a:sym typeface="Telegraf"/>
              </a:rPr>
              <a:t>EXPLICACIÓN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[2]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55234" y="2930571"/>
            <a:ext cx="15165365" cy="636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Batería LiPo36: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 Fuente de alimentación portátil del sistema. Proporciona energía al dispositivo.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TP4056: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 Módulo cargador que regula la carga segura de la batería LiPo mediante su entrada USC-C.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Switch: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 Interruptor que permite encender y apagar el circuito controlando el paso de corriente.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MT3608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 Boost: Conventidor elevador que aumenta el voltaje de la batería 5Vpara alimentar el ESP32.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ESP32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: Microcontrolador principal que procesa datos, controla sensores, visualizar información y transmite datos por WiFi.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OLED SSD1306: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 Pantalla de bajo consumo que muestra BPM, SpO2 y estado del sistema en tiempo real.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112F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MAX30102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: Sensor óptico que mide frecuencia cardíaca y saturación de oxígeno mediante fotoplestismografía. [2]</a:t>
            </a:r>
          </a:p>
          <a:p>
            <a:pPr algn="just" marL="0" indent="0" lvl="1">
              <a:lnSpc>
                <a:spcPts val="299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1443844" y="8221720"/>
            <a:ext cx="217380" cy="190208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443844" y="7074127"/>
            <a:ext cx="217380" cy="190208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443844" y="6012055"/>
            <a:ext cx="217380" cy="190208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443844" y="5250359"/>
            <a:ext cx="217380" cy="190208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443844" y="4490053"/>
            <a:ext cx="217380" cy="190208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443844" y="3729748"/>
            <a:ext cx="217380" cy="190208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443844" y="3067860"/>
            <a:ext cx="217380" cy="190208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852781" y="9777413"/>
            <a:ext cx="14663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5548" y="2637585"/>
            <a:ext cx="13122920" cy="6922340"/>
          </a:xfrm>
          <a:custGeom>
            <a:avLst/>
            <a:gdLst/>
            <a:ahLst/>
            <a:cxnLst/>
            <a:rect r="r" b="b" t="t" l="l"/>
            <a:pathLst>
              <a:path h="6922340" w="13122920">
                <a:moveTo>
                  <a:pt x="0" y="0"/>
                </a:moveTo>
                <a:lnTo>
                  <a:pt x="13122920" y="0"/>
                </a:lnTo>
                <a:lnTo>
                  <a:pt x="13122920" y="6922340"/>
                </a:lnTo>
                <a:lnTo>
                  <a:pt x="0" y="6922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85548" y="1200150"/>
            <a:ext cx="13116904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DIAGRAMA DE CIRCUITOS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525"/>
            <a:ext cx="18288000" cy="619125"/>
            <a:chOff x="0" y="0"/>
            <a:chExt cx="4816593" cy="163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008" y="9667875"/>
            <a:ext cx="18288000" cy="619125"/>
            <a:chOff x="0" y="0"/>
            <a:chExt cx="4816593" cy="163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909050"/>
            <a:ext cx="31257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12F59"/>
                </a:solidFill>
                <a:latin typeface="Open Sans"/>
                <a:ea typeface="Open Sans"/>
                <a:cs typeface="Open Sans"/>
                <a:sym typeface="Open Sans"/>
              </a:rPr>
              <a:t>[5]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87452" y="9777413"/>
            <a:ext cx="14646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32392" y="3418420"/>
            <a:ext cx="13023216" cy="4346498"/>
          </a:xfrm>
          <a:custGeom>
            <a:avLst/>
            <a:gdLst/>
            <a:ahLst/>
            <a:cxnLst/>
            <a:rect r="r" b="b" t="t" l="l"/>
            <a:pathLst>
              <a:path h="4346498" w="13023216">
                <a:moveTo>
                  <a:pt x="0" y="0"/>
                </a:moveTo>
                <a:lnTo>
                  <a:pt x="13023216" y="0"/>
                </a:lnTo>
                <a:lnTo>
                  <a:pt x="13023216" y="4346498"/>
                </a:lnTo>
                <a:lnTo>
                  <a:pt x="0" y="4346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16390" y="1200150"/>
            <a:ext cx="9455220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ENSAMBLAJE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13078"/>
            <a:ext cx="10120551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b="true" sz="2999" spc="-8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INTEGRACIÓN DEL SISTEMA DE ALIMENTACÍON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55376" y="9777413"/>
            <a:ext cx="14646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909317"/>
            <a:ext cx="8464756" cy="6543261"/>
          </a:xfrm>
          <a:custGeom>
            <a:avLst/>
            <a:gdLst/>
            <a:ahLst/>
            <a:cxnLst/>
            <a:rect r="r" b="b" t="t" l="l"/>
            <a:pathLst>
              <a:path h="6543261" w="8464756">
                <a:moveTo>
                  <a:pt x="0" y="0"/>
                </a:moveTo>
                <a:lnTo>
                  <a:pt x="8464756" y="0"/>
                </a:lnTo>
                <a:lnTo>
                  <a:pt x="8464756" y="6543261"/>
                </a:lnTo>
                <a:lnTo>
                  <a:pt x="0" y="6543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0" b="-895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01821" y="2926680"/>
            <a:ext cx="7557479" cy="6055430"/>
          </a:xfrm>
          <a:custGeom>
            <a:avLst/>
            <a:gdLst/>
            <a:ahLst/>
            <a:cxnLst/>
            <a:rect r="r" b="b" t="t" l="l"/>
            <a:pathLst>
              <a:path h="6055430" w="7557479">
                <a:moveTo>
                  <a:pt x="0" y="0"/>
                </a:moveTo>
                <a:lnTo>
                  <a:pt x="7557479" y="0"/>
                </a:lnTo>
                <a:lnTo>
                  <a:pt x="7557479" y="6055431"/>
                </a:lnTo>
                <a:lnTo>
                  <a:pt x="0" y="6055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16390" y="1200150"/>
            <a:ext cx="9455220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ENSAMBLAJE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74634" y="2071371"/>
            <a:ext cx="673873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999" spc="-8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SISTEMA PRINCIPAL DEL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82144" y="9777413"/>
            <a:ext cx="29292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38331" y="9056339"/>
            <a:ext cx="673873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999" spc="-8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VARIANTES DEL PROYECTO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4940174"/>
            <a:ext cx="6674067" cy="3761581"/>
          </a:xfrm>
          <a:custGeom>
            <a:avLst/>
            <a:gdLst/>
            <a:ahLst/>
            <a:cxnLst/>
            <a:rect r="r" b="b" t="t" l="l"/>
            <a:pathLst>
              <a:path h="3761581" w="6674067">
                <a:moveTo>
                  <a:pt x="0" y="0"/>
                </a:moveTo>
                <a:lnTo>
                  <a:pt x="6674067" y="0"/>
                </a:lnTo>
                <a:lnTo>
                  <a:pt x="6674067" y="3761581"/>
                </a:lnTo>
                <a:lnTo>
                  <a:pt x="0" y="3761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0583177" y="4940174"/>
            <a:ext cx="6487647" cy="3761581"/>
          </a:xfrm>
          <a:custGeom>
            <a:avLst/>
            <a:gdLst/>
            <a:ahLst/>
            <a:cxnLst/>
            <a:rect r="r" b="b" t="t" l="l"/>
            <a:pathLst>
              <a:path h="3761581" w="6487647">
                <a:moveTo>
                  <a:pt x="0" y="3761581"/>
                </a:moveTo>
                <a:lnTo>
                  <a:pt x="6487647" y="3761581"/>
                </a:lnTo>
                <a:lnTo>
                  <a:pt x="6487647" y="0"/>
                </a:lnTo>
                <a:lnTo>
                  <a:pt x="0" y="0"/>
                </a:lnTo>
                <a:lnTo>
                  <a:pt x="0" y="3761581"/>
                </a:lnTo>
                <a:close/>
              </a:path>
            </a:pathLst>
          </a:custGeom>
          <a:blipFill>
            <a:blip r:embed="rId3"/>
            <a:stretch>
              <a:fillRect l="0" t="0" r="-2905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16390" y="1200150"/>
            <a:ext cx="9455220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ENSAMBLAJE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461924"/>
            <a:ext cx="6674067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b="true" sz="2999" spc="-89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PROTOTIPO Y VALIDACIÓN INICIAL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7601" y="8867775"/>
            <a:ext cx="561757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 P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rime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ra conexion en protoboard.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71653" y="8867775"/>
            <a:ext cx="629917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 Ve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rific</a:t>
            </a: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ación del funcionamiento inicial.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48063" y="9777413"/>
            <a:ext cx="29292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39402" y="3208994"/>
            <a:ext cx="10009195" cy="5490804"/>
            <a:chOff x="0" y="0"/>
            <a:chExt cx="2636167" cy="14461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36167" cy="1446138"/>
            </a:xfrm>
            <a:custGeom>
              <a:avLst/>
              <a:gdLst/>
              <a:ahLst/>
              <a:cxnLst/>
              <a:rect r="r" b="b" t="t" l="l"/>
              <a:pathLst>
                <a:path h="1446138" w="2636167">
                  <a:moveTo>
                    <a:pt x="0" y="0"/>
                  </a:moveTo>
                  <a:lnTo>
                    <a:pt x="2636167" y="0"/>
                  </a:lnTo>
                  <a:lnTo>
                    <a:pt x="2636167" y="1446138"/>
                  </a:lnTo>
                  <a:lnTo>
                    <a:pt x="0" y="1446138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36167" cy="1474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012567" y="6563766"/>
            <a:ext cx="2136031" cy="2136031"/>
          </a:xfrm>
          <a:custGeom>
            <a:avLst/>
            <a:gdLst/>
            <a:ahLst/>
            <a:cxnLst/>
            <a:rect r="r" b="b" t="t" l="l"/>
            <a:pathLst>
              <a:path h="2136031" w="2136031">
                <a:moveTo>
                  <a:pt x="0" y="0"/>
                </a:moveTo>
                <a:lnTo>
                  <a:pt x="2136031" y="0"/>
                </a:lnTo>
                <a:lnTo>
                  <a:pt x="2136031" y="2136031"/>
                </a:lnTo>
                <a:lnTo>
                  <a:pt x="0" y="2136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69051" y="3392989"/>
            <a:ext cx="914989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1"/>
              </a:lnSpc>
            </a:pPr>
            <a:r>
              <a:rPr lang="en-US" sz="3842">
                <a:solidFill>
                  <a:srgbClr val="FFF9EE"/>
                </a:solidFill>
                <a:latin typeface="Coco Gothic"/>
                <a:ea typeface="Coco Gothic"/>
                <a:cs typeface="Coco Gothic"/>
                <a:sym typeface="Coco Gothic"/>
              </a:rPr>
              <a:t>El enlace al código: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69051" y="5140008"/>
            <a:ext cx="914989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6171"/>
              </a:lnSpc>
            </a:pPr>
            <a:r>
              <a:rPr lang="en-US" b="true" sz="5142" i="true">
                <a:solidFill>
                  <a:srgbClr val="FFF9EE"/>
                </a:solidFill>
                <a:latin typeface="Coco Gothic Bold Italics"/>
                <a:ea typeface="Coco Gothic Bold Italics"/>
                <a:cs typeface="Coco Gothic Bold Italics"/>
                <a:sym typeface="Coco Gothic Bold Italics"/>
              </a:rPr>
              <a:t>https://github.com/Seyer24/Proyecto-Final-OC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59435" y="1200150"/>
            <a:ext cx="6369130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CÓDIGO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98465" y="9777413"/>
            <a:ext cx="29292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18175" y="1200150"/>
            <a:ext cx="9051650" cy="104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b="true" sz="8000" spc="-480">
                <a:solidFill>
                  <a:srgbClr val="112F5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47747" y="2488003"/>
            <a:ext cx="11992506" cy="521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En conclusión, este proyecto evidencia como los avances en ingeniería han permitido desarrollar dispositivos médicos accesibles y funcionales en cuanto el monitoreo de signos vitales.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Dispositivos como el oxímetro de pulso, aunque aparentemente simples, permiten evaluar parámetro esenciales para la salud y apoyar la detección y seguimiento de alteraciones clínicas en millones de personas. </a:t>
            </a:r>
          </a:p>
          <a:p>
            <a:pPr algn="just">
              <a:lnSpc>
                <a:spcPts val="2999"/>
              </a:lnSpc>
            </a:pPr>
          </a:p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Esto nos demuestra el impacto que la tecnología puede tener en la medicina y en el acceso al cuidado de la salud. </a:t>
            </a:r>
          </a:p>
          <a:p>
            <a:pPr algn="just">
              <a:lnSpc>
                <a:spcPts val="2999"/>
              </a:lnSpc>
            </a:pPr>
          </a:p>
          <a:p>
            <a:pPr algn="just" marL="0" indent="0" lvl="1">
              <a:lnSpc>
                <a:spcPts val="2999"/>
              </a:lnSpc>
            </a:pPr>
            <a:r>
              <a:rPr lang="en-US" sz="2499">
                <a:solidFill>
                  <a:srgbClr val="112F59"/>
                </a:solidFill>
                <a:latin typeface="Coco Gothic"/>
                <a:ea typeface="Coco Gothic"/>
                <a:cs typeface="Coco Gothic"/>
                <a:sym typeface="Coco Gothic"/>
              </a:rPr>
              <a:t>Esto da como resultado una armonía entre proyectos IoT y la medicina. Ya que cualquier persona podría crear proyectos relacionados con la medicina y poder obtener respuestas a padecimientos con la ayuda tecnológica.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771356" y="9777413"/>
            <a:ext cx="29292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17556" y="933450"/>
            <a:ext cx="40528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112F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Referencias: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54572"/>
            <a:ext cx="16230600" cy="513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[1] </a:t>
            </a: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“Oxímetro de pulso: MedlinePlus enciclopedia médica illustración.” https://medlineplus.gov/spanish/ency/esp_imagepages/20005.htm</a:t>
            </a:r>
          </a:p>
          <a:p>
            <a:pPr algn="l">
              <a:lnSpc>
                <a:spcPts val="2306"/>
              </a:lnSpc>
            </a:pPr>
          </a:p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[2]  L. Llamas, “Pulsímetro y oxímetro con Arduino y MAX30102,” Luis Llamas, Apr. 12, 2020. https://www.luisllamas.es/en/pulse-oximeter-arduino-max30102</a:t>
            </a:r>
          </a:p>
          <a:p>
            <a:pPr algn="l">
              <a:lnSpc>
                <a:spcPts val="2306"/>
              </a:lnSpc>
            </a:pPr>
          </a:p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[3]https://protonestiot.medium.com/diy-oximeter-with-max30102-and-esp32-52ec3ffb2446/</a:t>
            </a:r>
          </a:p>
          <a:p>
            <a:pPr algn="l">
              <a:lnSpc>
                <a:spcPts val="2306"/>
              </a:lnSpc>
            </a:pPr>
          </a:p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[4] L. Del Valle Hernández, “SSD1306 pantalla OLED con Arduino y ESP8266 I2C,” Programarfacil Arduino y Home Assistant, Jan. 13, 2022. https://programarfacil.com/blog/arduino-blog/ssd1306-pantalla-oled-con-arduino/</a:t>
            </a:r>
          </a:p>
          <a:p>
            <a:pPr algn="l">
              <a:lnSpc>
                <a:spcPts val="2306"/>
              </a:lnSpc>
            </a:pPr>
          </a:p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[5]Seyer, “Proyecto-Final-OC/Proyecto_Final-1.pdf at main · Seyer24/Proyecto-Final-OC,” GitHub. https://github.com/Seyer24/Proyecto-Final-OC/blob/main/Proyecto_Final-1.pdf</a:t>
            </a:r>
          </a:p>
          <a:p>
            <a:pPr algn="l">
              <a:lnSpc>
                <a:spcPts val="2306"/>
              </a:lnSpc>
            </a:pPr>
          </a:p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[6]“JSON.” https://www.json.org/json-es.html</a:t>
            </a:r>
          </a:p>
          <a:p>
            <a:pPr algn="l">
              <a:lnSpc>
                <a:spcPts val="2306"/>
              </a:lnSpc>
            </a:pPr>
          </a:p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[7] VVA Industrial, “MAX30102 ESP32 Oxímetro de pulso y frecuencia cardíaca,” VVA Industrial, Feb. 04, 2026. https://vvaindustrial.com/arduino/max30102-esp32-oximetro-de-pulso-y-frecuencia-cardiaca-arduino/</a:t>
            </a:r>
          </a:p>
          <a:p>
            <a:pPr algn="l">
              <a:lnSpc>
                <a:spcPts val="2306"/>
              </a:lnSpc>
            </a:pPr>
          </a:p>
          <a:p>
            <a:pPr algn="l" marL="355672" indent="-177836" lvl="1">
              <a:lnSpc>
                <a:spcPts val="2306"/>
              </a:lnSpc>
              <a:buFont typeface="Arial"/>
              <a:buChar char="•"/>
            </a:pPr>
            <a:r>
              <a:rPr lang="en-US" sz="1647" i="true">
                <a:solidFill>
                  <a:srgbClr val="112F5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[8] https://www.laleo.com/oximetro-de-pulso-medimetrics-p-208460.html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619125"/>
            <a:chOff x="0" y="0"/>
            <a:chExt cx="4816593" cy="1630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667875"/>
            <a:ext cx="18288000" cy="619125"/>
            <a:chOff x="0" y="0"/>
            <a:chExt cx="4816593" cy="1630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63062"/>
            </a:xfrm>
            <a:custGeom>
              <a:avLst/>
              <a:gdLst/>
              <a:ahLst/>
              <a:cxnLst/>
              <a:rect r="r" b="b" t="t" l="l"/>
              <a:pathLst>
                <a:path h="1630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062"/>
                  </a:lnTo>
                  <a:lnTo>
                    <a:pt x="0" y="163062"/>
                  </a:lnTo>
                  <a:close/>
                </a:path>
              </a:pathLst>
            </a:custGeom>
            <a:solidFill>
              <a:srgbClr val="112F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816593" cy="191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728147" y="9777413"/>
            <a:ext cx="29292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2021" b="true">
                <a:solidFill>
                  <a:srgbClr val="FFF9E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DAHK5FoOD3A</dc:identifier>
  <dcterms:modified xsi:type="dcterms:W3CDTF">2011-08-01T06:04:30Z</dcterms:modified>
  <cp:revision>1</cp:revision>
  <dc:title> de Proyecto Final OC</dc:title>
</cp:coreProperties>
</file>